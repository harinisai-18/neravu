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WOMEN ENTREPRENEURSHIP &amp;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/>
            </a:pPr>
            <a:r>
              <a:t>MIVI</a:t>
            </a:r>
          </a:p>
          <a:p>
            <a:pPr>
              <a:spcAft>
                <a:spcPts val="500"/>
              </a:spcAft>
              <a:defRPr sz="1800"/>
            </a:pPr>
            <a:r>
              <a:t>The Entrepreneurial Journey of Midhula Devabhaktuni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From Idea → Product → Brand →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Beginning of an Entrepreneurial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/>
            </a:pPr>
            <a:r>
              <a:t>Midhula Devabhaktuni completed her B.Tech in Computer Science from JNTU in 2008.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She moved to the US for higher studies, completing an MS in Computer Science and later an MBA.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She worked as a software engineer before moving into entrepreneurship.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After returning to India, she explored opportunities in consumer electronics and built Mivi with Viswanadh Kandula.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Mivi was established in 2015, and its products began selling in 2016.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Identifying the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/>
            </a:pPr>
            <a:r>
              <a:t>In 2015, Indian consumers faced a difficult choice: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• Cheap grey-market products — low cost, but concerns about quality, certification, warranty and reliability.</a:t>
            </a:r>
          </a:p>
          <a:p>
            <a:pPr>
              <a:spcAft>
                <a:spcPts val="500"/>
              </a:spcAft>
              <a:defRPr sz="1800"/>
            </a:pPr>
            <a:r>
              <a:t>• Global brands — high quality and certified, but expensive and often designed for different consumer conditions.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Mivi identified a space between these choices.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 b="1"/>
            </a:pPr>
            <a:r>
              <a:t>The Mivi approach:</a:t>
            </a:r>
          </a:p>
          <a:p>
            <a:pPr>
              <a:spcAft>
                <a:spcPts val="500"/>
              </a:spcAft>
              <a:defRPr sz="1800"/>
            </a:pPr>
            <a:r>
              <a:t>Quality + Value + Indian Consumer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From Idea to First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/>
            </a:pPr>
            <a:r>
              <a:t>Midhula and the founding team started small rather than immediately building a large manufacturing operation.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• Operated initially from a 2BHK apartment in Jubilee Hills.</a:t>
            </a:r>
          </a:p>
          <a:p>
            <a:pPr>
              <a:spcAft>
                <a:spcPts val="500"/>
              </a:spcAft>
              <a:defRPr sz="1800"/>
            </a:pPr>
            <a:r>
              <a:t>• Bootstrapped with ₹3.5 crore of personal savings.</a:t>
            </a:r>
          </a:p>
          <a:p>
            <a:pPr>
              <a:spcAft>
                <a:spcPts val="500"/>
              </a:spcAft>
              <a:defRPr sz="1800"/>
            </a:pPr>
            <a:r>
              <a:t>• Initially avoided external VC funding.</a:t>
            </a:r>
          </a:p>
          <a:p>
            <a:pPr>
              <a:spcAft>
                <a:spcPts val="500"/>
              </a:spcAft>
              <a:defRPr sz="1800"/>
            </a:pPr>
            <a:r>
              <a:t>• Spent 8–10 months on prototyping and benchmarking.</a:t>
            </a:r>
          </a:p>
          <a:p>
            <a:pPr>
              <a:spcAft>
                <a:spcPts val="500"/>
              </a:spcAft>
              <a:defRPr sz="1800"/>
            </a:pPr>
            <a:r>
              <a:t>• Launched a single car charger in April 2016.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 b="1"/>
            </a:pPr>
            <a:r>
              <a:t>Entrepreneurial approach:</a:t>
            </a:r>
          </a:p>
          <a:p>
            <a:pPr>
              <a:spcAft>
                <a:spcPts val="500"/>
              </a:spcAft>
              <a:defRPr sz="1800"/>
            </a:pPr>
            <a:r>
              <a:t>Observe → Research → Build → Launch → Learn → 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Feedback &amp; Brand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/>
            </a:pPr>
            <a:r>
              <a:t>Mivi treated customer feedback as an important source of learning.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/>
            </a:pPr>
            <a:r>
              <a:t>• The early process followed: Observe → R&amp;D → Launch → Feedback → Improve.</a:t>
            </a:r>
          </a:p>
          <a:p>
            <a:pPr>
              <a:spcAft>
                <a:spcPts val="500"/>
              </a:spcAft>
              <a:defRPr sz="1600"/>
            </a:pPr>
            <a:r>
              <a:t>• During the first six months, Midhula personally spent around 5–6 hours a day handling customer calls and emails.</a:t>
            </a:r>
          </a:p>
          <a:p>
            <a:pPr>
              <a:spcAft>
                <a:spcPts val="500"/>
              </a:spcAft>
              <a:defRPr sz="1600"/>
            </a:pPr>
            <a:r>
              <a:t>• Feedback helped improve product reliability, warranties and customer experience.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/>
            </a:pPr>
            <a:r>
              <a:t>Building the Brand</a:t>
            </a:r>
          </a:p>
          <a:p>
            <a:pPr>
              <a:spcAft>
                <a:spcPts val="500"/>
              </a:spcAft>
              <a:defRPr sz="1600"/>
            </a:pPr>
            <a:r>
              <a:t>• Marketing helped Mivi reach customers and measure business outcomes.</a:t>
            </a:r>
          </a:p>
          <a:p>
            <a:pPr>
              <a:spcAft>
                <a:spcPts val="500"/>
              </a:spcAft>
              <a:defRPr sz="1600"/>
            </a:pPr>
            <a:r>
              <a:t>• Positioning focused on quality, value and products for Indian consumers.</a:t>
            </a:r>
          </a:p>
          <a:p>
            <a:pPr>
              <a:spcAft>
                <a:spcPts val="500"/>
              </a:spcAft>
              <a:defRPr sz="1600"/>
            </a:pPr>
            <a:r>
              <a:t>• Customer satisfaction and consistent experience helped build trust.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/>
            </a:pPr>
            <a:r>
              <a:t>Key lesson: Customer feedback can become an input for innovation.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Product Innovation &amp; Made-in-India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/>
            </a:pPr>
            <a:r>
              <a:t>By 2017, Mivi expanded into audio products such as earphones, headphones, Bluetooth devices and speakers.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 b="1"/>
            </a:pPr>
            <a:r>
              <a:t>Product focus:</a:t>
            </a:r>
          </a:p>
          <a:p>
            <a:pPr>
              <a:spcAft>
                <a:spcPts val="500"/>
              </a:spcAft>
              <a:defRPr sz="1600"/>
            </a:pPr>
            <a:r>
              <a:t>• Indian consumer preferences</a:t>
            </a:r>
          </a:p>
          <a:p>
            <a:pPr>
              <a:spcAft>
                <a:spcPts val="500"/>
              </a:spcAft>
              <a:defRPr sz="1600"/>
            </a:pPr>
            <a:r>
              <a:t>• Sound quality and comfort</a:t>
            </a:r>
          </a:p>
          <a:p>
            <a:pPr>
              <a:spcAft>
                <a:spcPts val="500"/>
              </a:spcAft>
              <a:defRPr sz="1600"/>
            </a:pPr>
            <a:r>
              <a:t>• Durability in local environmental conditions</a:t>
            </a:r>
          </a:p>
          <a:p>
            <a:pPr>
              <a:spcAft>
                <a:spcPts val="500"/>
              </a:spcAft>
              <a:defRPr sz="1600"/>
            </a:pPr>
            <a:r>
              <a:t>• Product quality and certification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 b="1"/>
            </a:pPr>
            <a:r>
              <a:t>Manufacturing journey:</a:t>
            </a:r>
          </a:p>
          <a:p>
            <a:pPr>
              <a:spcAft>
                <a:spcPts val="500"/>
              </a:spcAft>
              <a:defRPr sz="1600"/>
            </a:pPr>
            <a:r>
              <a:t>2015 — Hyderabad design + foreign contract manufacturing</a:t>
            </a:r>
          </a:p>
          <a:p>
            <a:pPr>
              <a:spcAft>
                <a:spcPts val="500"/>
              </a:spcAft>
              <a:defRPr sz="1600"/>
            </a:pPr>
            <a:r>
              <a:t>2020 — Hyderabad design + local assembly</a:t>
            </a:r>
          </a:p>
          <a:p>
            <a:pPr>
              <a:spcAft>
                <a:spcPts val="500"/>
              </a:spcAft>
              <a:defRPr sz="1600"/>
            </a:pPr>
            <a:r>
              <a:t>2020 onward — Increasing internal production capability</a:t>
            </a:r>
          </a:p>
          <a:p>
            <a:pPr>
              <a:spcAft>
                <a:spcPts val="500"/>
              </a:spcAft>
              <a:defRPr sz="1600"/>
            </a:pPr>
            <a:r>
              <a:t>2024 — ₹200 crore second facility, 2,000 jobs and 100,000 units/day capacity as stated in the original case study.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/>
            </a:pPr>
            <a:r>
              <a:t>Key lesson: Scaling can mean building capabilities, not simply increasing sales.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Mivi as a Model of Women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/>
            </a:pPr>
            <a:r>
              <a:t>Midhula's journey shows a woman taking a leadership role in a technology and consumer-electronics business.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• Transitioned from a professional career to entrepreneurship.</a:t>
            </a:r>
          </a:p>
          <a:p>
            <a:pPr>
              <a:spcAft>
                <a:spcPts val="500"/>
              </a:spcAft>
              <a:defRPr sz="1800"/>
            </a:pPr>
            <a:r>
              <a:t>• Took part in product, marketing and customer-focused decisions.</a:t>
            </a:r>
          </a:p>
          <a:p>
            <a:pPr>
              <a:spcAft>
                <a:spcPts val="500"/>
              </a:spcAft>
              <a:defRPr sz="1800"/>
            </a:pPr>
            <a:r>
              <a:t>• Built the company together with Viswanadh Kandula.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Women at Mivi</a:t>
            </a:r>
          </a:p>
          <a:p>
            <a:pPr>
              <a:spcAft>
                <a:spcPts val="500"/>
              </a:spcAft>
              <a:defRPr sz="1800"/>
            </a:pPr>
            <a:r>
              <a:t>• The manufacturing workforce creates opportunities for women.</a:t>
            </a:r>
          </a:p>
          <a:p>
            <a:pPr>
              <a:spcAft>
                <a:spcPts val="500"/>
              </a:spcAft>
              <a:defRPr sz="1800"/>
            </a:pPr>
            <a:r>
              <a:t>• The original case study highlights that around 80% of the 1,500+ workforce are women.</a:t>
            </a:r>
          </a:p>
          <a:p>
            <a:pPr>
              <a:spcAft>
                <a:spcPts val="500"/>
              </a:spcAft>
              <a:defRPr sz="1800"/>
            </a:pPr>
            <a:r>
              <a:t>• In-house training supports workforce development.</a:t>
            </a:r>
          </a:p>
          <a:p>
            <a:pPr>
              <a:spcAft>
                <a:spcPts val="500"/>
              </a:spcAft>
              <a:defRPr sz="1800"/>
            </a:pPr>
          </a:p>
          <a:p>
            <a:pPr>
              <a:spcAft>
                <a:spcPts val="500"/>
              </a:spcAft>
              <a:defRPr sz="1800"/>
            </a:pPr>
            <a:r>
              <a:t>Women Entrepreneurship → Employment → Skills → Leadership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Challenges &amp; 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/>
            </a:pPr>
            <a:r>
              <a:t>KEY CHALLENGES</a:t>
            </a:r>
          </a:p>
          <a:p>
            <a:pPr>
              <a:spcAft>
                <a:spcPts val="500"/>
              </a:spcAft>
              <a:defRPr sz="1400"/>
            </a:pPr>
            <a:r>
              <a:t>• Building a consumer-electronics brand in a competitive market.</a:t>
            </a:r>
          </a:p>
          <a:p>
            <a:pPr>
              <a:spcAft>
                <a:spcPts val="500"/>
              </a:spcAft>
              <a:defRPr sz="1400"/>
            </a:pPr>
            <a:r>
              <a:t>• Establishing customer trust as an online-first brand.</a:t>
            </a:r>
          </a:p>
          <a:p>
            <a:pPr>
              <a:spcAft>
                <a:spcPts val="500"/>
              </a:spcAft>
              <a:defRPr sz="1400"/>
            </a:pPr>
            <a:r>
              <a:t>• Maintaining quality while scaling.</a:t>
            </a:r>
          </a:p>
          <a:p>
            <a:pPr>
              <a:spcAft>
                <a:spcPts val="500"/>
              </a:spcAft>
              <a:defRPr sz="1400"/>
            </a:pPr>
            <a:r>
              <a:t>• Moving from outsourced manufacturing toward domestic production.</a:t>
            </a:r>
          </a:p>
          <a:p>
            <a:pPr>
              <a:spcAft>
                <a:spcPts val="500"/>
              </a:spcAft>
              <a:defRPr sz="1400"/>
            </a:pPr>
            <a:r>
              <a:t>• Managing the financial requirements of hardware manufacturing.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STRENGTHS</a:t>
            </a:r>
          </a:p>
          <a:p>
            <a:pPr>
              <a:spcAft>
                <a:spcPts val="500"/>
              </a:spcAft>
              <a:defRPr sz="1400"/>
            </a:pPr>
            <a:r>
              <a:t>• Indian consumer-focused positioning</a:t>
            </a:r>
          </a:p>
          <a:p>
            <a:pPr>
              <a:spcAft>
                <a:spcPts val="500"/>
              </a:spcAft>
              <a:defRPr sz="1400"/>
            </a:pPr>
            <a:r>
              <a:t>• Product and engineering focus</a:t>
            </a:r>
          </a:p>
          <a:p>
            <a:pPr>
              <a:spcAft>
                <a:spcPts val="500"/>
              </a:spcAft>
              <a:defRPr sz="1400"/>
            </a:pPr>
            <a:r>
              <a:t>• Customer feedback-driven approach</a:t>
            </a:r>
          </a:p>
          <a:p>
            <a:pPr>
              <a:spcAft>
                <a:spcPts val="500"/>
              </a:spcAft>
              <a:defRPr sz="1400"/>
            </a:pPr>
            <a:r>
              <a:t>• Growing manufacturing capabilities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WEAKNESSES</a:t>
            </a:r>
          </a:p>
          <a:p>
            <a:pPr>
              <a:spcAft>
                <a:spcPts val="500"/>
              </a:spcAft>
              <a:defRPr sz="1400"/>
            </a:pPr>
            <a:r>
              <a:t>• High investment requirements</a:t>
            </a:r>
          </a:p>
          <a:p>
            <a:pPr>
              <a:spcAft>
                <a:spcPts val="500"/>
              </a:spcAft>
              <a:defRPr sz="1400"/>
            </a:pPr>
            <a:r>
              <a:t>• Increasing operational complexity with scale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OPPORTUNITIES</a:t>
            </a:r>
          </a:p>
          <a:p>
            <a:pPr>
              <a:spcAft>
                <a:spcPts val="500"/>
              </a:spcAft>
              <a:defRPr sz="1400"/>
            </a:pPr>
            <a:r>
              <a:t>• Growing Indian electronics market</a:t>
            </a:r>
          </a:p>
          <a:p>
            <a:pPr>
              <a:spcAft>
                <a:spcPts val="500"/>
              </a:spcAft>
              <a:defRPr sz="1400"/>
            </a:pPr>
            <a:r>
              <a:t>• New product categories</a:t>
            </a:r>
          </a:p>
          <a:p>
            <a:pPr>
              <a:spcAft>
                <a:spcPts val="500"/>
              </a:spcAft>
              <a:defRPr sz="1400"/>
            </a:pPr>
            <a:r>
              <a:t>• Make-in-India manufacturing</a:t>
            </a:r>
          </a:p>
          <a:p>
            <a:pPr>
              <a:spcAft>
                <a:spcPts val="500"/>
              </a:spcAft>
              <a:defRPr sz="1400"/>
            </a:pPr>
            <a:r>
              <a:t>• Digital and e-commerce channels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THREATS</a:t>
            </a:r>
          </a:p>
          <a:p>
            <a:pPr>
              <a:spcAft>
                <a:spcPts val="500"/>
              </a:spcAft>
              <a:defRPr sz="1400"/>
            </a:pPr>
            <a:r>
              <a:t>• Strong competition</a:t>
            </a:r>
          </a:p>
          <a:p>
            <a:pPr>
              <a:spcAft>
                <a:spcPts val="500"/>
              </a:spcAft>
              <a:defRPr sz="1400"/>
            </a:pPr>
            <a:r>
              <a:t>• Rapid technology changes</a:t>
            </a:r>
          </a:p>
          <a:p>
            <a:pPr>
              <a:spcAft>
                <a:spcPts val="500"/>
              </a:spcAft>
              <a:defRPr sz="1400"/>
            </a:pPr>
            <a:r>
              <a:t>• Changing customer preferences</a:t>
            </a:r>
          </a:p>
          <a:p>
            <a:pPr>
              <a:spcAft>
                <a:spcPts val="500"/>
              </a:spcAft>
              <a:defRPr sz="1400"/>
            </a:pPr>
            <a:r>
              <a:t>• Manufacturing and component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Growth, Impact &amp; Key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35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/>
            </a:pPr>
            <a:r>
              <a:t>Mivi's journey:</a:t>
            </a:r>
          </a:p>
          <a:p>
            <a:pPr>
              <a:spcAft>
                <a:spcPts val="500"/>
              </a:spcAft>
              <a:defRPr sz="1400"/>
            </a:pPr>
            <a:r>
              <a:t>Idea → Market Gap → First Product → Customer Feedback → Brand Building → Product Expansion → Indian Manufacturing → Employment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Key lessons for young women entrepreneurs: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1. Identify — Start with a real customer problem.</a:t>
            </a:r>
          </a:p>
          <a:p>
            <a:pPr>
              <a:spcAft>
                <a:spcPts val="500"/>
              </a:spcAft>
              <a:defRPr sz="1400"/>
            </a:pPr>
            <a:r>
              <a:t>2. Research — Understand the market before investing heavily.</a:t>
            </a:r>
          </a:p>
          <a:p>
            <a:pPr>
              <a:spcAft>
                <a:spcPts val="500"/>
              </a:spcAft>
              <a:defRPr sz="1400"/>
            </a:pPr>
            <a:r>
              <a:t>3. Position — Be clear about why customers should choose you.</a:t>
            </a:r>
          </a:p>
          <a:p>
            <a:pPr>
              <a:spcAft>
                <a:spcPts val="500"/>
              </a:spcAft>
              <a:defRPr sz="1400"/>
            </a:pPr>
            <a:r>
              <a:t>4. Build — Make quality and value part of the product.</a:t>
            </a:r>
          </a:p>
          <a:p>
            <a:pPr>
              <a:spcAft>
                <a:spcPts val="500"/>
              </a:spcAft>
              <a:defRPr sz="1400"/>
            </a:pPr>
            <a:r>
              <a:t>5. Persist — Entrepreneurship requires patience and long-term execution.</a:t>
            </a:r>
          </a:p>
          <a:p>
            <a:pPr>
              <a:spcAft>
                <a:spcPts val="500"/>
              </a:spcAft>
              <a:defRPr sz="1400"/>
            </a:pPr>
            <a:r>
              <a:t>6. Create Impact — A business can create employment and opportunities for women.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 b="1"/>
            </a:pPr>
            <a:r>
              <a:t>CONCLUSION</a:t>
            </a:r>
          </a:p>
          <a:p>
            <a:pPr>
              <a:spcAft>
                <a:spcPts val="500"/>
              </a:spcAft>
              <a:defRPr sz="1400"/>
            </a:pPr>
            <a:r>
              <a:t>Midhula's story shows that entrepreneurship is about identifying a need, understanding customers, building value, taking calculated risks, learning continuously and creating opportunities for others.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