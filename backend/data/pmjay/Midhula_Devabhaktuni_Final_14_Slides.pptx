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669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62269"/>
                </a:solidFill>
                <a:latin typeface="Aptos"/>
              </a:defRPr>
            </a:pPr>
            <a:r>
              <a:t>WOMEN ENTREPRENEURSHIP &amp;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5577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23232A"/>
                </a:solidFill>
                <a:latin typeface="Aptos Display"/>
              </a:defRPr>
            </a:pPr>
            <a:r>
              <a:t>The Entrepreneurial Journey of</a:t>
            </a:r>
            <a:br/>
            <a:r>
              <a:t>Midhula Devabhaktuni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62269"/>
                </a:solidFill>
                <a:latin typeface="Aptos"/>
              </a:defRPr>
            </a:pPr>
            <a:r>
              <a:t>From Idea → Product → Brand → Manufacturing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71800"/>
            <a:ext cx="5486400" cy="2560320"/>
          </a:xfrm>
          <a:prstGeom prst="roundRect">
            <a:avLst/>
          </a:prstGeom>
          <a:solidFill>
            <a:srgbClr val="F2F2FA"/>
          </a:solidFill>
          <a:ln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62269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050">
                <a:solidFill>
                  <a:srgbClr val="23232A"/>
                </a:solidFill>
                <a:latin typeface="Aptos"/>
              </a:defRPr>
            </a:pPr>
            <a:r>
              <a:t>• PATHURI SRUTHI CHOWDARY — 24BQ1A05Z4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50">
                <a:solidFill>
                  <a:srgbClr val="23232A"/>
                </a:solidFill>
                <a:latin typeface="Aptos"/>
              </a:defRPr>
            </a:pPr>
            <a:r>
              <a:t>• PUVVALA PREMA SWARUPA RANI — 24BQ1A050X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50">
                <a:solidFill>
                  <a:srgbClr val="23232A"/>
                </a:solidFill>
                <a:latin typeface="Aptos"/>
              </a:defRPr>
            </a:pPr>
            <a:r>
              <a:t>• SATTENAPALLI VATHSALYA — 25BQ5A0547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50">
                <a:solidFill>
                  <a:srgbClr val="23232A"/>
                </a:solidFill>
                <a:latin typeface="Aptos"/>
              </a:defRPr>
            </a:pPr>
            <a:r>
              <a:t>• PEDAKOTLA HARSHA VARDHAN — 24BQ1A05Z7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50">
                <a:solidFill>
                  <a:srgbClr val="23232A"/>
                </a:solidFill>
                <a:latin typeface="Aptos"/>
              </a:defRPr>
            </a:pPr>
            <a:r>
              <a:t>• PULIVARTHI ANTHONI — 24BQ1A050T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050">
                <a:solidFill>
                  <a:srgbClr val="23232A"/>
                </a:solidFill>
                <a:latin typeface="Aptos"/>
              </a:defRPr>
            </a:pPr>
            <a:r>
              <a:t>• REDDI SANTOSH — 25BQ5A0545</a:t>
            </a:r>
          </a:p>
        </p:txBody>
      </p:sp>
      <p:pic>
        <p:nvPicPr>
          <p:cNvPr id="9" name="Picture 8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786977"/>
            <a:ext cx="4892040" cy="7354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20840" y="55321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5F5F69"/>
                </a:solidFill>
                <a:latin typeface="Aptos"/>
              </a:defRPr>
            </a:pPr>
            <a:r>
              <a:t>Mivi • Indian Consumer Electronics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A"/>
                </a:solidFill>
                <a:latin typeface="Aptos Display"/>
              </a:defRPr>
            </a:pPr>
            <a:r>
              <a:t>Who Is Midhula Devabhaktuni?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69"/>
                </a:solidFill>
                <a:latin typeface="Aptos"/>
              </a:defRPr>
            </a:pPr>
            <a:r>
              <a:t>The education and professional foundation behind her entrepreneurial shift.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2</a:t>
            </a:r>
          </a:p>
        </p:txBody>
      </p:sp>
      <p:pic>
        <p:nvPicPr>
          <p:cNvPr id="7" name="Picture 6" descr="produ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26108"/>
            <a:ext cx="4114800" cy="163438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74920" y="1417320"/>
            <a:ext cx="3017520" cy="141732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74920" y="1417320"/>
            <a:ext cx="64008" cy="1417320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1563624"/>
            <a:ext cx="26974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232A"/>
                </a:solidFill>
                <a:latin typeface="Aptos"/>
              </a:defRPr>
            </a:pPr>
            <a:r>
              <a:t>Education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984248"/>
            <a:ext cx="26974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32A"/>
                </a:solidFill>
                <a:latin typeface="Aptos"/>
              </a:defRPr>
            </a:pPr>
            <a:r>
              <a:t>B.Tech in Computer Science from JNTU (2008).</a:t>
            </a:r>
            <a:br/>
            <a:r>
              <a:t>Later completed an MS in Computer Science and an MBA in the 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246120" cy="141732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417320"/>
            <a:ext cx="64008" cy="1417320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563624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232A"/>
                </a:solidFill>
                <a:latin typeface="Aptos"/>
              </a:defRPr>
            </a:pPr>
            <a:r>
              <a:t>Professional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984248"/>
            <a:ext cx="29260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32A"/>
                </a:solidFill>
                <a:latin typeface="Aptos"/>
              </a:defRPr>
            </a:pPr>
            <a:r>
              <a:t>Worked as a software engineer before moving from a corporate career into entrepreneurship.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3063240"/>
            <a:ext cx="6446520" cy="141732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3063240"/>
            <a:ext cx="64008" cy="1417320"/>
          </a:xfrm>
          <a:prstGeom prst="rect">
            <a:avLst/>
          </a:prstGeom>
          <a:solidFill>
            <a:srgbClr val="F4B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3209544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232A"/>
                </a:solidFill>
                <a:latin typeface="Aptos"/>
              </a:defRPr>
            </a:pPr>
            <a:r>
              <a:t>Entrepreneurial shift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630168"/>
            <a:ext cx="6126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32A"/>
                </a:solidFill>
                <a:latin typeface="Aptos"/>
              </a:defRPr>
            </a:pPr>
            <a:r>
              <a:t>After returning to India, she explored consumer-electronics opportunities and built Mivi with Viswanadh Kandula. Mivi was established in 2015; products began selling in 2016.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4800600"/>
            <a:ext cx="6217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262269"/>
                </a:solidFill>
                <a:latin typeface="Aptos"/>
              </a:defRPr>
            </a:pPr>
            <a:r>
              <a:t>Her journey combines technical knowledge, business education, customer understanding and execution.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5F69"/>
                </a:solidFill>
              </a:defRPr>
            </a:pPr>
            <a:r>
              <a:t>Source: User-provided Mivi/Midhula presentation and supporting podcast material.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A"/>
                </a:solidFill>
                <a:latin typeface="Aptos Display"/>
              </a:defRPr>
            </a:pPr>
            <a:r>
              <a:t>From Corporate Career to Entrepreneurship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69"/>
                </a:solidFill>
                <a:latin typeface="Aptos"/>
              </a:defRPr>
            </a:pPr>
            <a:r>
              <a:t>A deliberate move from software engineering toward a customer-focused business.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743200"/>
            <a:ext cx="384048" cy="384048"/>
          </a:xfrm>
          <a:prstGeom prst="ellipse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331720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62269"/>
                </a:solidFill>
                <a:latin typeface="Aptos"/>
              </a:defRPr>
            </a:pPr>
            <a:r>
              <a:t>2008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45720" y="327355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23232A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82880" y="365760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F5F69"/>
                </a:solidFill>
                <a:latin typeface="Aptos"/>
              </a:defRPr>
            </a:pPr>
            <a:r>
              <a:t>B.Tech in Computer Science, JNTU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7" y="2898648"/>
            <a:ext cx="1856232" cy="54864"/>
          </a:xfrm>
          <a:prstGeom prst="rect">
            <a:avLst/>
          </a:prstGeom>
          <a:solidFill>
            <a:srgbClr val="D5D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80360" y="2743200"/>
            <a:ext cx="384048" cy="384048"/>
          </a:xfrm>
          <a:prstGeom prst="ellipse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331720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62269"/>
                </a:solidFill>
                <a:latin typeface="Aptos"/>
              </a:defRPr>
            </a:pPr>
            <a:r>
              <a:t>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27355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23232A"/>
                </a:solidFill>
                <a:latin typeface="Aptos"/>
              </a:defRPr>
            </a:pPr>
            <a:r>
              <a:t>Higher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65760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F5F69"/>
                </a:solidFill>
                <a:latin typeface="Aptos"/>
              </a:defRPr>
            </a:pPr>
            <a:r>
              <a:t>MS in Computer Science + MBA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4408" y="2898648"/>
            <a:ext cx="1856231" cy="54864"/>
          </a:xfrm>
          <a:prstGeom prst="rect">
            <a:avLst/>
          </a:prstGeom>
          <a:solidFill>
            <a:srgbClr val="D5D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20640" y="2743200"/>
            <a:ext cx="384048" cy="384048"/>
          </a:xfrm>
          <a:prstGeom prst="ellipse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2331720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62269"/>
                </a:solidFill>
                <a:latin typeface="Aptos"/>
              </a:defRPr>
            </a:pPr>
            <a:r>
              <a:t>Career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27355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23232A"/>
                </a:solidFill>
                <a:latin typeface="Aptos"/>
              </a:defRPr>
            </a:pPr>
            <a:r>
              <a:t>Software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365760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F5F69"/>
                </a:solidFill>
                <a:latin typeface="Aptos"/>
              </a:defRPr>
            </a:pPr>
            <a:r>
              <a:t>Professional experience before entrepreneurship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4688" y="2898648"/>
            <a:ext cx="1856232" cy="54864"/>
          </a:xfrm>
          <a:prstGeom prst="rect">
            <a:avLst/>
          </a:prstGeom>
          <a:solidFill>
            <a:srgbClr val="D5D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60920" y="2743200"/>
            <a:ext cx="384048" cy="384048"/>
          </a:xfrm>
          <a:prstGeom prst="ellipse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2331720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62269"/>
                </a:solidFill>
                <a:latin typeface="Aptos"/>
              </a:defRPr>
            </a:pPr>
            <a:r>
              <a:t>India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27355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23232A"/>
                </a:solidFill>
                <a:latin typeface="Aptos"/>
              </a:defRPr>
            </a:pPr>
            <a:r>
              <a:t>Opportunity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65760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F5F69"/>
                </a:solidFill>
                <a:latin typeface="Aptos"/>
              </a:defRPr>
            </a:pPr>
            <a:r>
              <a:t>Returned to India and explored consumer electronics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44968" y="2898648"/>
            <a:ext cx="1856231" cy="54864"/>
          </a:xfrm>
          <a:prstGeom prst="rect">
            <a:avLst/>
          </a:prstGeom>
          <a:solidFill>
            <a:srgbClr val="D5D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0" y="2743200"/>
            <a:ext cx="384048" cy="384048"/>
          </a:xfrm>
          <a:prstGeom prst="ellipse">
            <a:avLst/>
          </a:prstGeom>
          <a:solidFill>
            <a:srgbClr val="F4B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2331720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62269"/>
                </a:solidFill>
                <a:latin typeface="Aptos"/>
              </a:defRPr>
            </a:pPr>
            <a:r>
              <a:t>2015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327355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23232A"/>
                </a:solidFill>
                <a:latin typeface="Aptos"/>
              </a:defRPr>
            </a:pPr>
            <a:r>
              <a:t>Mivi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65760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F5F69"/>
                </a:solidFill>
                <a:latin typeface="Aptos"/>
              </a:defRPr>
            </a:pPr>
            <a:r>
              <a:t>Built the company with Viswanadh Kandula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4892040"/>
            <a:ext cx="8503920" cy="86868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4892040"/>
            <a:ext cx="64008" cy="868680"/>
          </a:xfrm>
          <a:prstGeom prst="rect">
            <a:avLst/>
          </a:prstGeom>
          <a:solidFill>
            <a:srgbClr val="F4B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0" y="5038344"/>
            <a:ext cx="8183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3232A"/>
                </a:solidFill>
                <a:latin typeface="Aptos"/>
              </a:defRPr>
            </a:pPr>
            <a:r>
              <a:t>The transition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458968"/>
            <a:ext cx="818388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32A"/>
                </a:solidFill>
                <a:latin typeface="Aptos"/>
              </a:defRPr>
            </a:pPr>
            <a:r>
              <a:t>She moved from applying technology inside established companies to applying business, technology and customer insight to build a new Indian consumer brand.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A"/>
                </a:solidFill>
                <a:latin typeface="Aptos Display"/>
              </a:defRPr>
            </a:pPr>
            <a:r>
              <a:t>Identifying the Market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69"/>
                </a:solidFill>
                <a:latin typeface="Aptos"/>
              </a:defRPr>
            </a:pPr>
            <a:r>
              <a:t>In 2015, the opportunity was between affordability, quality and local relevance.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337560" cy="342900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64008" cy="3429000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56362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3232A"/>
                </a:solidFill>
                <a:latin typeface="Aptos"/>
              </a:defRPr>
            </a:pPr>
            <a:r>
              <a:t>Cheap / grey-market 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84248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32A"/>
                </a:solidFill>
                <a:latin typeface="Aptos"/>
              </a:defRPr>
            </a:pPr>
            <a:r>
              <a:t>• Lower prices</a:t>
            </a:r>
            <a:br/>
            <a:r>
              <a:t>• Concerns around quality and certification</a:t>
            </a:r>
            <a:br/>
            <a:r>
              <a:t>• Limited warranty and reliability</a:t>
            </a:r>
            <a:br/>
            <a:r>
              <a:t>• White-label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606040"/>
            <a:ext cx="914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5F5F69"/>
                </a:solidFill>
                <a:latin typeface="Aptos"/>
              </a:defRPr>
            </a:pPr>
            <a:r>
              <a:t>VS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417320"/>
            <a:ext cx="3337560" cy="342900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74920" y="1417320"/>
            <a:ext cx="64008" cy="3429000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56362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3232A"/>
                </a:solidFill>
                <a:latin typeface="Aptos"/>
              </a:defRPr>
            </a:pPr>
            <a:r>
              <a:t>Global brands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984248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32A"/>
                </a:solidFill>
                <a:latin typeface="Aptos"/>
              </a:defRPr>
            </a:pPr>
            <a:r>
              <a:t>• High quality and certification</a:t>
            </a:r>
            <a:br/>
            <a:r>
              <a:t>• Strong brand recognition</a:t>
            </a:r>
            <a:br/>
            <a:r>
              <a:t>• Higher prices</a:t>
            </a:r>
            <a:br/>
            <a:r>
              <a:t>• Often designed around non-Indian use cases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1417320"/>
            <a:ext cx="2926080" cy="3429000"/>
          </a:xfrm>
          <a:prstGeom prst="roundRect">
            <a:avLst/>
          </a:prstGeom>
          <a:solidFill>
            <a:srgbClr val="FFFAEB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41080" y="1417320"/>
            <a:ext cx="64008" cy="3429000"/>
          </a:xfrm>
          <a:prstGeom prst="rect">
            <a:avLst/>
          </a:prstGeom>
          <a:solidFill>
            <a:srgbClr val="F4B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1563624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3232A"/>
                </a:solidFill>
                <a:latin typeface="Aptos"/>
              </a:defRPr>
            </a:pPr>
            <a:r>
              <a:t>Mivi's white 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1984248"/>
            <a:ext cx="2606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32A"/>
                </a:solidFill>
                <a:latin typeface="Aptos"/>
              </a:defRPr>
            </a:pPr>
            <a:r>
              <a:t>Quality + value + products designed around Indian consumers and conditions.</a:t>
            </a:r>
            <a:br/>
            <a:br/>
            <a:r>
              <a:t>The focus was not simply on being cheaper; it was on making the value proposition clear.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262269"/>
                </a:solidFill>
                <a:latin typeface="Aptos"/>
              </a:defRPr>
            </a:pPr>
            <a:r>
              <a:t>Entrepreneurial lesson: start with a genuine customer problem rather than copying an existing business.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A"/>
                </a:solidFill>
                <a:latin typeface="Aptos Display"/>
              </a:defRPr>
            </a:pPr>
            <a:r>
              <a:t>Starting Small: Bootstrapping Mivi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69"/>
                </a:solidFill>
                <a:latin typeface="Aptos"/>
              </a:defRPr>
            </a:pPr>
            <a:r>
              <a:t>The early business was built through constrained testing instead of immediate large-scale expansion.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5</a:t>
            </a:r>
          </a:p>
        </p:txBody>
      </p:sp>
      <p:pic>
        <p:nvPicPr>
          <p:cNvPr id="7" name="Picture 6" descr="validation_lo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105" y="1325880"/>
            <a:ext cx="4435308" cy="2011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3703320"/>
            <a:ext cx="2560320" cy="1508760"/>
          </a:xfrm>
          <a:prstGeom prst="roundRect">
            <a:avLst/>
          </a:prstGeom>
          <a:solidFill>
            <a:srgbClr val="F2F2FA"/>
          </a:solidFill>
          <a:ln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2286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62269"/>
                </a:solidFill>
                <a:latin typeface="Aptos"/>
              </a:defRPr>
            </a:pPr>
            <a:r>
              <a:t>2BHK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361688"/>
            <a:ext cx="2231136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F5F69"/>
                </a:solidFill>
                <a:latin typeface="Aptos"/>
              </a:defRPr>
            </a:pPr>
            <a:r>
              <a:t>Initial operating setup in Jubilee Hills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3703320"/>
            <a:ext cx="2560320" cy="1508760"/>
          </a:xfrm>
          <a:prstGeom prst="roundRect">
            <a:avLst/>
          </a:prstGeom>
          <a:solidFill>
            <a:srgbClr val="F2F2FA"/>
          </a:solidFill>
          <a:ln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3840480"/>
            <a:ext cx="2286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62269"/>
                </a:solidFill>
                <a:latin typeface="Aptos"/>
              </a:defRPr>
            </a:pPr>
            <a:r>
              <a:t>₹3.5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4361688"/>
            <a:ext cx="2231136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F5F69"/>
                </a:solidFill>
                <a:latin typeface="Aptos"/>
              </a:defRPr>
            </a:pPr>
            <a:r>
              <a:t>Personal savings used to bootstrap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03320"/>
            <a:ext cx="2560320" cy="1508760"/>
          </a:xfrm>
          <a:prstGeom prst="roundRect">
            <a:avLst/>
          </a:prstGeom>
          <a:solidFill>
            <a:srgbClr val="F2F2FA"/>
          </a:solidFill>
          <a:ln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840480"/>
            <a:ext cx="2286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62269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61688"/>
            <a:ext cx="2231136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F5F69"/>
                </a:solidFill>
                <a:latin typeface="Aptos"/>
              </a:defRPr>
            </a:pPr>
            <a:r>
              <a:t>External funding initially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3703320"/>
            <a:ext cx="2560320" cy="1508760"/>
          </a:xfrm>
          <a:prstGeom prst="roundRect">
            <a:avLst/>
          </a:prstGeom>
          <a:solidFill>
            <a:srgbClr val="F2F2FA"/>
          </a:solidFill>
          <a:ln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3840480"/>
            <a:ext cx="2286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62269"/>
                </a:solidFill>
                <a:latin typeface="Aptos"/>
              </a:defRPr>
            </a:pPr>
            <a:r>
              <a:t>8–10 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4361688"/>
            <a:ext cx="2231136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F5F69"/>
                </a:solidFill>
                <a:latin typeface="Aptos"/>
              </a:defRPr>
            </a:pPr>
            <a:r>
              <a:t>Prototyping and benchmarking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62269"/>
                </a:solidFill>
                <a:latin typeface="Aptos"/>
              </a:defRPr>
            </a:pPr>
            <a:r>
              <a:t>The early strategy: observe the market → research deeply → build carefully → learn before scaling.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A"/>
                </a:solidFill>
                <a:latin typeface="Aptos Display"/>
              </a:defRPr>
            </a:pPr>
            <a:r>
              <a:t>From Prototype to the First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69"/>
                </a:solidFill>
                <a:latin typeface="Aptos"/>
              </a:defRPr>
            </a:pPr>
            <a:r>
              <a:t>Mivi used a small first launch to validate demand before expanding the portfolio.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6</a:t>
            </a:r>
          </a:p>
        </p:txBody>
      </p:sp>
      <p:pic>
        <p:nvPicPr>
          <p:cNvPr id="7" name="Picture 6" descr="validation_lo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17144"/>
            <a:ext cx="4663440" cy="21151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417320"/>
            <a:ext cx="5806440" cy="114300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23560" y="1417320"/>
            <a:ext cx="64008" cy="1143000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6362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232A"/>
                </a:solidFill>
                <a:latin typeface="Aptos"/>
              </a:defRPr>
            </a:pPr>
            <a:r>
              <a:t>1.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984248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32A"/>
                </a:solidFill>
                <a:latin typeface="Aptos"/>
              </a:defRPr>
            </a:pPr>
            <a:r>
              <a:t>Study local usage conditions and customer friction.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2697480"/>
            <a:ext cx="5806440" cy="114300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23560" y="2697480"/>
            <a:ext cx="64008" cy="1143000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84378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232A"/>
                </a:solidFill>
                <a:latin typeface="Aptos"/>
              </a:defRPr>
            </a:pPr>
            <a:r>
              <a:t>2. Research &amp;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264408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32A"/>
                </a:solidFill>
                <a:latin typeface="Aptos"/>
              </a:defRPr>
            </a:pPr>
            <a:r>
              <a:t>Spend 8–10 months benchmarking and refining the product.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977639"/>
            <a:ext cx="5806440" cy="1143000"/>
          </a:xfrm>
          <a:prstGeom prst="roundRect">
            <a:avLst/>
          </a:prstGeom>
          <a:solidFill>
            <a:srgbClr val="FFFAEB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23560" y="3977639"/>
            <a:ext cx="64008" cy="1143000"/>
          </a:xfrm>
          <a:prstGeom prst="rect">
            <a:avLst/>
          </a:prstGeom>
          <a:solidFill>
            <a:srgbClr val="F4B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412394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232A"/>
                </a:solidFill>
                <a:latin typeface="Aptos"/>
              </a:defRPr>
            </a:pPr>
            <a:r>
              <a:t>3. Launch small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4544568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32A"/>
                </a:solidFill>
                <a:latin typeface="Aptos"/>
              </a:defRPr>
            </a:pPr>
            <a:r>
              <a:t>A single car charger became the first product, launched in April 2016.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5440680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62269"/>
                </a:solidFill>
                <a:latin typeface="Aptos"/>
              </a:defRPr>
            </a:pPr>
            <a:r>
              <a:t>The principle: evidence before expansion.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A"/>
                </a:solidFill>
                <a:latin typeface="Aptos Display"/>
              </a:defRPr>
            </a:pPr>
            <a:r>
              <a:t>Customer Feedback Became Part of the R&amp;D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69"/>
                </a:solidFill>
                <a:latin typeface="Aptos"/>
              </a:defRPr>
            </a:pPr>
            <a:r>
              <a:t>Early customer conversations helped shape reliability, warranties and the brand experience.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7</a:t>
            </a:r>
          </a:p>
        </p:txBody>
      </p:sp>
      <p:pic>
        <p:nvPicPr>
          <p:cNvPr id="7" name="Picture 6" descr="validation_lo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98215"/>
            <a:ext cx="4709160" cy="21358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371600"/>
            <a:ext cx="5669280" cy="123444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23560" y="1371600"/>
            <a:ext cx="64008" cy="1234440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17904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232A"/>
                </a:solidFill>
                <a:latin typeface="Aptos"/>
              </a:defRPr>
            </a:pPr>
            <a:r>
              <a:t>Direct customer 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938528"/>
            <a:ext cx="5349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32A"/>
                </a:solidFill>
                <a:latin typeface="Aptos"/>
              </a:defRPr>
            </a:pPr>
            <a:r>
              <a:t>During the first six months, Midhula personally spent around 5–6 hours a day handling customer calls and emails.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2788920"/>
            <a:ext cx="5669280" cy="123444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23560" y="2788920"/>
            <a:ext cx="64008" cy="1234440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935224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232A"/>
                </a:solidFill>
                <a:latin typeface="Aptos"/>
              </a:defRPr>
            </a:pPr>
            <a:r>
              <a:t>Feedback → improvement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355848"/>
            <a:ext cx="5349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32A"/>
                </a:solidFill>
                <a:latin typeface="Aptos"/>
              </a:defRPr>
            </a:pPr>
            <a:r>
              <a:t>Customer problems became inputs for product changes, warranty decisions and service improvements.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4206240"/>
            <a:ext cx="5669280" cy="1234440"/>
          </a:xfrm>
          <a:prstGeom prst="roundRect">
            <a:avLst/>
          </a:prstGeom>
          <a:solidFill>
            <a:srgbClr val="FFFAEB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23560" y="4206240"/>
            <a:ext cx="64008" cy="1234440"/>
          </a:xfrm>
          <a:prstGeom prst="rect">
            <a:avLst/>
          </a:prstGeom>
          <a:solidFill>
            <a:srgbClr val="F4B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4352544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232A"/>
                </a:solidFill>
                <a:latin typeface="Aptos"/>
              </a:defRPr>
            </a:pPr>
            <a:r>
              <a:t>Brand building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4773168"/>
            <a:ext cx="5349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32A"/>
                </a:solidFill>
                <a:latin typeface="Aptos"/>
              </a:defRPr>
            </a:pPr>
            <a:r>
              <a:t>Marketing and positioning focused on quality, value and a clear reason for Indian customers to choose Mivi.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A"/>
                </a:solidFill>
                <a:latin typeface="Aptos Display"/>
              </a:defRPr>
            </a:pPr>
            <a:r>
              <a:t>Product Innovation: Understanding Indian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69"/>
                </a:solidFill>
                <a:latin typeface="Aptos"/>
              </a:defRPr>
            </a:pPr>
            <a:r>
              <a:t>By 2017, Mivi expanded into audio products and focused on local preferences and conditions.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8</a:t>
            </a:r>
          </a:p>
        </p:txBody>
      </p:sp>
      <p:pic>
        <p:nvPicPr>
          <p:cNvPr id="7" name="Picture 6" descr="earbud_explod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23246"/>
            <a:ext cx="4663440" cy="293154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532120" y="1417320"/>
            <a:ext cx="5806440" cy="109728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32120" y="1417320"/>
            <a:ext cx="64008" cy="1097280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156362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232A"/>
                </a:solidFill>
                <a:latin typeface="Aptos"/>
              </a:defRPr>
            </a:pPr>
            <a:r>
              <a:t>Audio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984248"/>
            <a:ext cx="548640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32A"/>
                </a:solidFill>
                <a:latin typeface="Aptos"/>
              </a:defRPr>
            </a:pPr>
            <a:r>
              <a:t>Earphones, headphones, Bluetooth devices and speakers became part of the portfolio.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2697480"/>
            <a:ext cx="5806440" cy="109728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32120" y="2697480"/>
            <a:ext cx="64008" cy="1097280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284378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232A"/>
                </a:solidFill>
                <a:latin typeface="Aptos"/>
              </a:defRPr>
            </a:pPr>
            <a:r>
              <a:t>Acoustic 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264408"/>
            <a:ext cx="548640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32A"/>
                </a:solidFill>
                <a:latin typeface="Aptos"/>
              </a:defRPr>
            </a:pPr>
            <a:r>
              <a:t>Products were developed around Indian consumer preferences, including sound and comfort.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3977639"/>
            <a:ext cx="5806440" cy="1097280"/>
          </a:xfrm>
          <a:prstGeom prst="roundRect">
            <a:avLst/>
          </a:prstGeom>
          <a:solidFill>
            <a:srgbClr val="FFFAEB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32120" y="3977639"/>
            <a:ext cx="64008" cy="1097280"/>
          </a:xfrm>
          <a:prstGeom prst="rect">
            <a:avLst/>
          </a:prstGeom>
          <a:solidFill>
            <a:srgbClr val="F4B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412394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232A"/>
                </a:solidFill>
                <a:latin typeface="Aptos"/>
              </a:defRPr>
            </a:pPr>
            <a:r>
              <a:t>Environmental durability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544568"/>
            <a:ext cx="548640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32A"/>
                </a:solidFill>
                <a:latin typeface="Aptos"/>
              </a:defRPr>
            </a:pPr>
            <a:r>
              <a:t>Attention to dust, sweat and local environmental conditions supported everyday use.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5257800"/>
            <a:ext cx="580644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32120" y="5257800"/>
            <a:ext cx="64008" cy="594360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540410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232A"/>
                </a:solidFill>
                <a:latin typeface="Aptos"/>
              </a:defRPr>
            </a:pPr>
            <a:r>
              <a:t>Certification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5824728"/>
            <a:ext cx="5486400" cy="-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3232A"/>
                </a:solidFill>
                <a:latin typeface="Aptos"/>
              </a:defRPr>
            </a:pPr>
            <a:r>
              <a:t>The source presentation notes Hi-Res Audio certification from the Japan Audio Society.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A"/>
                </a:solidFill>
                <a:latin typeface="Aptos Display"/>
              </a:defRPr>
            </a:pPr>
            <a:r>
              <a:t>From Selling Products to Building Manufacturing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69"/>
                </a:solidFill>
                <a:latin typeface="Aptos"/>
              </a:defRPr>
            </a:pPr>
            <a:r>
              <a:t>Mivi's journey moved from external manufacturing toward increasing local production capability.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9</a:t>
            </a:r>
          </a:p>
        </p:txBody>
      </p:sp>
      <p:pic>
        <p:nvPicPr>
          <p:cNvPr id="7" name="Picture 6" descr="manufactu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1417320"/>
            <a:ext cx="4297680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417320"/>
            <a:ext cx="5669280" cy="91440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23560" y="1417320"/>
            <a:ext cx="64008" cy="914400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63624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232A"/>
                </a:solidFill>
                <a:latin typeface="Aptos"/>
              </a:defRPr>
            </a:pPr>
            <a:r>
              <a:t>2015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984248"/>
            <a:ext cx="5349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3232A"/>
                </a:solidFill>
                <a:latin typeface="Aptos"/>
              </a:defRPr>
            </a:pPr>
            <a:r>
              <a:t>Hyderabad design + foreign contract manufacturing.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2487168"/>
            <a:ext cx="5669280" cy="91440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23560" y="2487168"/>
            <a:ext cx="64008" cy="914400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633472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232A"/>
                </a:solidFill>
                <a:latin typeface="Aptos"/>
              </a:defRPr>
            </a:pPr>
            <a:r>
              <a:t>2020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054096"/>
            <a:ext cx="5349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3232A"/>
                </a:solidFill>
                <a:latin typeface="Aptos"/>
              </a:defRPr>
            </a:pPr>
            <a:r>
              <a:t>Hyderabad design + local assembly; move toward internal production.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557016"/>
            <a:ext cx="5669280" cy="91440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23560" y="3557016"/>
            <a:ext cx="64008" cy="914400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3703320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232A"/>
                </a:solidFill>
                <a:latin typeface="Aptos"/>
              </a:defRPr>
            </a:pPr>
            <a:r>
              <a:t>2022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4123944"/>
            <a:ext cx="5349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3232A"/>
                </a:solidFill>
                <a:latin typeface="Aptos"/>
              </a:defRPr>
            </a:pPr>
            <a:r>
              <a:t>The source presentation describes 9 production lines and 700+ employees.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4626864"/>
            <a:ext cx="5669280" cy="914400"/>
          </a:xfrm>
          <a:prstGeom prst="roundRect">
            <a:avLst/>
          </a:prstGeom>
          <a:solidFill>
            <a:srgbClr val="FFFAEB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23560" y="4626864"/>
            <a:ext cx="64008" cy="914400"/>
          </a:xfrm>
          <a:prstGeom prst="rect">
            <a:avLst/>
          </a:prstGeom>
          <a:solidFill>
            <a:srgbClr val="F4B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4773168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232A"/>
                </a:solidFill>
                <a:latin typeface="Aptos"/>
              </a:defRPr>
            </a:pPr>
            <a:r>
              <a:t>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5193792"/>
            <a:ext cx="5349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3232A"/>
                </a:solidFill>
                <a:latin typeface="Aptos"/>
              </a:defRPr>
            </a:pPr>
            <a:r>
              <a:t>₹200 crore second facility, 2,000 jobs and 100,000 units/day capacity as stated in the source case study.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5F69"/>
                </a:solidFill>
              </a:defRPr>
            </a:pPr>
            <a:r>
              <a:t>Source: User-provided presentation; figures are presented as stated in that source.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A"/>
                </a:solidFill>
                <a:latin typeface="Aptos Display"/>
              </a:defRPr>
            </a:pPr>
            <a:r>
              <a:t>Growth, Scale and the Financial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69"/>
                </a:solidFill>
                <a:latin typeface="Aptos"/>
              </a:defRPr>
            </a:pPr>
            <a:r>
              <a:t>Scaling a hardware company requires capital, infrastructure and careful attention to profitability.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10</a:t>
            </a:r>
          </a:p>
        </p:txBody>
      </p:sp>
      <p:pic>
        <p:nvPicPr>
          <p:cNvPr id="7" name="Picture 6" descr="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41" y="1417320"/>
            <a:ext cx="4956357" cy="356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72200" y="1508760"/>
            <a:ext cx="2331720" cy="1417320"/>
          </a:xfrm>
          <a:prstGeom prst="roundRect">
            <a:avLst/>
          </a:prstGeom>
          <a:solidFill>
            <a:srgbClr val="F2F2FA"/>
          </a:solidFill>
          <a:ln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45919"/>
            <a:ext cx="2057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62269"/>
                </a:solidFill>
                <a:latin typeface="Aptos"/>
              </a:defRPr>
            </a:pPr>
            <a:r>
              <a:t>~₹10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2167128"/>
            <a:ext cx="20025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F5F69"/>
                </a:solidFill>
                <a:latin typeface="Aptos"/>
              </a:defRPr>
            </a:pPr>
            <a:r>
              <a:t>FY17 revenue in the source case study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1508760"/>
            <a:ext cx="2331720" cy="1417320"/>
          </a:xfrm>
          <a:prstGeom prst="roundRect">
            <a:avLst/>
          </a:prstGeom>
          <a:solidFill>
            <a:srgbClr val="F2F2FA"/>
          </a:solidFill>
          <a:ln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645919"/>
            <a:ext cx="2057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62269"/>
                </a:solidFill>
                <a:latin typeface="Aptos"/>
              </a:defRPr>
            </a:pPr>
            <a:r>
              <a:t>&gt;₹300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7112" y="2167128"/>
            <a:ext cx="20025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F5F69"/>
                </a:solidFill>
                <a:latin typeface="Aptos"/>
              </a:defRPr>
            </a:pPr>
            <a:r>
              <a:t>FY25 revenue in the source case study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246120"/>
            <a:ext cx="2331720" cy="1417320"/>
          </a:xfrm>
          <a:prstGeom prst="roundRect">
            <a:avLst/>
          </a:prstGeom>
          <a:solidFill>
            <a:srgbClr val="F2F2FA"/>
          </a:solidFill>
          <a:ln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383279"/>
            <a:ext cx="2057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62269"/>
                </a:solidFill>
                <a:latin typeface="Aptos"/>
              </a:defRPr>
            </a:pPr>
            <a:r>
              <a:t>₹2.4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3904487"/>
            <a:ext cx="20025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F5F69"/>
                </a:solidFill>
                <a:latin typeface="Aptos"/>
              </a:defRPr>
            </a:pPr>
            <a:r>
              <a:t>FY25 provisional PAT stated in the 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3246120"/>
            <a:ext cx="2331720" cy="1417320"/>
          </a:xfrm>
          <a:prstGeom prst="roundRect">
            <a:avLst/>
          </a:prstGeom>
          <a:solidFill>
            <a:srgbClr val="F2F2FA"/>
          </a:solidFill>
          <a:ln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3383279"/>
            <a:ext cx="2057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62269"/>
                </a:solidFill>
                <a:latin typeface="Aptos"/>
              </a:defRPr>
            </a:pPr>
            <a:r>
              <a:t>2022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3904487"/>
            <a:ext cx="20025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F5F69"/>
                </a:solidFill>
                <a:latin typeface="Aptos"/>
              </a:defRPr>
            </a:pPr>
            <a:r>
              <a:t>Debt round mentioned in the source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983480"/>
            <a:ext cx="4892040" cy="777240"/>
          </a:xfrm>
          <a:prstGeom prst="roundRect">
            <a:avLst/>
          </a:prstGeom>
          <a:solidFill>
            <a:srgbClr val="FFFAEB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983480"/>
            <a:ext cx="64008" cy="777240"/>
          </a:xfrm>
          <a:prstGeom prst="rect">
            <a:avLst/>
          </a:prstGeom>
          <a:solidFill>
            <a:srgbClr val="F4B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5129784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23232A"/>
                </a:solidFill>
                <a:latin typeface="Aptos"/>
              </a:defRPr>
            </a:pPr>
            <a:r>
              <a:t>What this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550408"/>
            <a:ext cx="457200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3232A"/>
                </a:solidFill>
                <a:latin typeface="Aptos"/>
              </a:defRPr>
            </a:pPr>
            <a:r>
              <a:t>Revenue growth and physical expansion can increase financial complexity; growth and profitability are different measures.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5F69"/>
                </a:solidFill>
              </a:defRPr>
            </a:pPr>
            <a:r>
              <a:t>Source: User-provided presentation; financial figures are presented as stated in that source.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A"/>
                </a:solidFill>
                <a:latin typeface="Aptos Display"/>
              </a:defRPr>
            </a:pPr>
            <a:r>
              <a:t>Women Entrepreneurship and Employment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69"/>
                </a:solidFill>
                <a:latin typeface="Aptos"/>
              </a:defRPr>
            </a:pPr>
            <a:r>
              <a:t>Midhula's leadership journey also connects entrepreneurship with opportunities for women in manufacturing.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11</a:t>
            </a:r>
          </a:p>
        </p:txBody>
      </p:sp>
      <p:pic>
        <p:nvPicPr>
          <p:cNvPr id="7" name="Picture 6" descr="cro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754880" cy="4434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371600"/>
            <a:ext cx="5715000" cy="114300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23560" y="1371600"/>
            <a:ext cx="64008" cy="1143000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517904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232A"/>
                </a:solidFill>
                <a:latin typeface="Aptos"/>
              </a:defRPr>
            </a:pPr>
            <a:r>
              <a:t>Leadership in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938528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32A"/>
                </a:solidFill>
                <a:latin typeface="Aptos"/>
              </a:defRPr>
            </a:pPr>
            <a:r>
              <a:t>Midhula moved from a software-engineering career into leadership in a technology and consumer-electronics company.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2697480"/>
            <a:ext cx="5715000" cy="114300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23560" y="2697480"/>
            <a:ext cx="64008" cy="1143000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843784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232A"/>
                </a:solidFill>
                <a:latin typeface="Aptos"/>
              </a:defRPr>
            </a:pPr>
            <a:r>
              <a:t>Building together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264408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32A"/>
                </a:solidFill>
                <a:latin typeface="Aptos"/>
              </a:defRPr>
            </a:pPr>
            <a:r>
              <a:t>She built Mivi with Viswanadh Kandula, combining complementary responsibilities and shared decision-making.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4023360"/>
            <a:ext cx="5715000" cy="1143000"/>
          </a:xfrm>
          <a:prstGeom prst="roundRect">
            <a:avLst/>
          </a:prstGeom>
          <a:solidFill>
            <a:srgbClr val="FFFAEB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23560" y="4023360"/>
            <a:ext cx="64008" cy="1143000"/>
          </a:xfrm>
          <a:prstGeom prst="rect">
            <a:avLst/>
          </a:prstGeom>
          <a:solidFill>
            <a:srgbClr val="F4B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4169664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3232A"/>
                </a:solidFill>
                <a:latin typeface="Aptos"/>
              </a:defRPr>
            </a:pPr>
            <a:r>
              <a:t>Women at Mivi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4590288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32A"/>
                </a:solidFill>
                <a:latin typeface="Aptos"/>
              </a:defRPr>
            </a:pPr>
            <a:r>
              <a:t>The source case study highlights a predominantly women workforce and in-house training as part of workforce development.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5440680"/>
            <a:ext cx="5623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62269"/>
                </a:solidFill>
                <a:latin typeface="Aptos"/>
              </a:defRPr>
            </a:pPr>
            <a:r>
              <a:t>Entrepreneurship → Employment → Skills → Leadership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5F69"/>
                </a:solidFill>
              </a:defRPr>
            </a:pPr>
            <a:r>
              <a:t>Source: User-provided presentation and case-study material.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A"/>
                </a:solidFill>
                <a:latin typeface="Aptos Display"/>
              </a:defRPr>
            </a:pPr>
            <a:r>
              <a:t>Challenges Midhula and Mivi Had to Navigate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69"/>
                </a:solidFill>
                <a:latin typeface="Aptos"/>
              </a:defRPr>
            </a:pPr>
            <a:r>
              <a:t>The journey involved product, market, operational and financial challenges.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474720" cy="150876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4008" cy="1508760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517904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232A"/>
                </a:solidFill>
                <a:latin typeface="Aptos"/>
              </a:defRPr>
            </a:pPr>
            <a:r>
              <a:t>Market competition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38528"/>
            <a:ext cx="315467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A"/>
                </a:solidFill>
                <a:latin typeface="Aptos"/>
              </a:defRPr>
            </a:pPr>
            <a:r>
              <a:t>Building a consumer-electronics brand in a competitive market and earning customer trust.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474720" cy="150876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64008" cy="1508760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17904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232A"/>
                </a:solidFill>
                <a:latin typeface="Aptos"/>
              </a:defRPr>
            </a:pPr>
            <a:r>
              <a:t>Quality at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38528"/>
            <a:ext cx="315467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A"/>
                </a:solidFill>
                <a:latin typeface="Aptos"/>
              </a:defRPr>
            </a:pPr>
            <a:r>
              <a:t>Maintaining product quality and customer experience while expanding the portfolio.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474720" cy="1508760"/>
          </a:xfrm>
          <a:prstGeom prst="roundRect">
            <a:avLst/>
          </a:prstGeom>
          <a:solidFill>
            <a:srgbClr val="FFFAEB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64008" cy="1508760"/>
          </a:xfrm>
          <a:prstGeom prst="rect">
            <a:avLst/>
          </a:prstGeom>
          <a:solidFill>
            <a:srgbClr val="F4B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517904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232A"/>
                </a:solidFill>
                <a:latin typeface="Aptos"/>
              </a:defRPr>
            </a:pPr>
            <a:r>
              <a:t>Manufacturing shift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38528"/>
            <a:ext cx="315467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A"/>
                </a:solidFill>
                <a:latin typeface="Aptos"/>
              </a:defRPr>
            </a:pPr>
            <a:r>
              <a:t>Moving from outsourced production toward domestic and internal manufacturing capability.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46120"/>
            <a:ext cx="3474720" cy="150876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246120"/>
            <a:ext cx="64008" cy="1508760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392424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232A"/>
                </a:solidFill>
                <a:latin typeface="Aptos"/>
              </a:defRPr>
            </a:pPr>
            <a:r>
              <a:t>Capital requirements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813048"/>
            <a:ext cx="315467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A"/>
                </a:solidFill>
                <a:latin typeface="Aptos"/>
              </a:defRPr>
            </a:pPr>
            <a:r>
              <a:t>Hardware manufacturing requires investment in facilities, people, equipment and working capital.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246120"/>
            <a:ext cx="3474720" cy="1508760"/>
          </a:xfrm>
          <a:prstGeom prst="roundRect">
            <a:avLst/>
          </a:prstGeom>
          <a:solidFill>
            <a:srgbClr val="F2F2FA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246120"/>
            <a:ext cx="64008" cy="1508760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392424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232A"/>
                </a:solidFill>
                <a:latin typeface="Aptos"/>
              </a:defRPr>
            </a:pPr>
            <a:r>
              <a:t>Technology change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813048"/>
            <a:ext cx="315467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A"/>
                </a:solidFill>
                <a:latin typeface="Aptos"/>
              </a:defRPr>
            </a:pPr>
            <a:r>
              <a:t>Rapid changes in electronics and shifting customer preferences require continuous product learning.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246120"/>
            <a:ext cx="3474720" cy="1508760"/>
          </a:xfrm>
          <a:prstGeom prst="roundRect">
            <a:avLst/>
          </a:prstGeom>
          <a:solidFill>
            <a:srgbClr val="FFFAEB"/>
          </a:solidFill>
          <a:ln w="10160"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246120"/>
            <a:ext cx="64008" cy="1508760"/>
          </a:xfrm>
          <a:prstGeom prst="rect">
            <a:avLst/>
          </a:prstGeom>
          <a:solidFill>
            <a:srgbClr val="F4B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392424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3232A"/>
                </a:solidFill>
                <a:latin typeface="Aptos"/>
              </a:defRPr>
            </a:pPr>
            <a:r>
              <a:t>Operational complexity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813048"/>
            <a:ext cx="315467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A"/>
                </a:solidFill>
                <a:latin typeface="Aptos"/>
              </a:defRPr>
            </a:pPr>
            <a:r>
              <a:t>Growth brings more processes, teams, suppliers and financial decisions to manage.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257800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62269"/>
                </a:solidFill>
                <a:latin typeface="Aptos"/>
              </a:defRPr>
            </a:pPr>
            <a:r>
              <a:t>The entrepreneurial challenge is not only starting — it is building systems that can support the next stage of growth.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A"/>
                </a:solidFill>
                <a:latin typeface="Aptos Display"/>
              </a:defRPr>
            </a:pPr>
            <a:r>
              <a:t>What We Can Learn From Midhula's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5F69"/>
                </a:solidFill>
                <a:latin typeface="Aptos"/>
              </a:defRPr>
            </a:pPr>
            <a:r>
              <a:t>The story connects customer understanding, persistence, product quality and long-term execution.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971800" cy="1508760"/>
          </a:xfrm>
          <a:prstGeom prst="roundRect">
            <a:avLst/>
          </a:prstGeom>
          <a:solidFill>
            <a:srgbClr val="F2F2FA"/>
          </a:solidFill>
          <a:ln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0876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B51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499616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62269"/>
                </a:solidFill>
                <a:latin typeface="Aptos"/>
              </a:defRPr>
            </a:pPr>
            <a:r>
              <a:t>Identify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93392"/>
            <a:ext cx="2606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32A"/>
                </a:solidFill>
                <a:latin typeface="Aptos"/>
              </a:defRPr>
            </a:pPr>
            <a:r>
              <a:t>Start with a real customer problem.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371600"/>
            <a:ext cx="2971800" cy="1508760"/>
          </a:xfrm>
          <a:prstGeom prst="roundRect">
            <a:avLst/>
          </a:prstGeom>
          <a:solidFill>
            <a:srgbClr val="F2F2FA"/>
          </a:solidFill>
          <a:ln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9392" y="150876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B51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499616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62269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993392"/>
            <a:ext cx="2606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32A"/>
                </a:solidFill>
                <a:latin typeface="Aptos"/>
              </a:defRPr>
            </a:pPr>
            <a:r>
              <a:t>Understand the market before investing heavily.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371600"/>
            <a:ext cx="2971800" cy="1508760"/>
          </a:xfrm>
          <a:prstGeom prst="roundRect">
            <a:avLst/>
          </a:prstGeom>
          <a:solidFill>
            <a:srgbClr val="F2F2FA"/>
          </a:solidFill>
          <a:ln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150876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B51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499616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62269"/>
                </a:solidFill>
                <a:latin typeface="Aptos"/>
              </a:defRPr>
            </a:pPr>
            <a:r>
              <a:t>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993392"/>
            <a:ext cx="2606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32A"/>
                </a:solidFill>
                <a:latin typeface="Aptos"/>
              </a:defRPr>
            </a:pPr>
            <a:r>
              <a:t>Be clear about why customers should choose your brand.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91840"/>
            <a:ext cx="2971800" cy="1508760"/>
          </a:xfrm>
          <a:prstGeom prst="roundRect">
            <a:avLst/>
          </a:prstGeom>
          <a:solidFill>
            <a:srgbClr val="F2F2FA"/>
          </a:solidFill>
          <a:ln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4290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B51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419856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62269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913632"/>
            <a:ext cx="2606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32A"/>
                </a:solidFill>
                <a:latin typeface="Aptos"/>
              </a:defRPr>
            </a:pPr>
            <a:r>
              <a:t>Make quality and value part of the product itself.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3291840"/>
            <a:ext cx="2971800" cy="1508760"/>
          </a:xfrm>
          <a:prstGeom prst="roundRect">
            <a:avLst/>
          </a:prstGeom>
          <a:solidFill>
            <a:srgbClr val="F2F2FA"/>
          </a:solidFill>
          <a:ln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9392" y="34290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B51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3419856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62269"/>
                </a:solidFill>
                <a:latin typeface="Aptos"/>
              </a:defRPr>
            </a:pPr>
            <a:r>
              <a:t>Persist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913632"/>
            <a:ext cx="2606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32A"/>
                </a:solidFill>
                <a:latin typeface="Aptos"/>
              </a:defRPr>
            </a:pPr>
            <a:r>
              <a:t>Entrepreneurship requires patience and long-term execution.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3291840"/>
            <a:ext cx="2971800" cy="1508760"/>
          </a:xfrm>
          <a:prstGeom prst="roundRect">
            <a:avLst/>
          </a:prstGeom>
          <a:solidFill>
            <a:srgbClr val="F2F2FA"/>
          </a:solidFill>
          <a:ln>
            <a:solidFill>
              <a:srgbClr val="D5D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54112" y="34290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4B51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419856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62269"/>
                </a:solidFill>
                <a:latin typeface="Aptos"/>
              </a:defRPr>
            </a:pPr>
            <a:r>
              <a:t>Create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913632"/>
            <a:ext cx="2606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32A"/>
                </a:solidFill>
                <a:latin typeface="Aptos"/>
              </a:defRPr>
            </a:pPr>
            <a:r>
              <a:t>A business can create employment, skills and opportunities for women.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4924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62269"/>
                </a:solidFill>
                <a:latin typeface="Aptos"/>
              </a:defRPr>
            </a:pPr>
            <a:r>
              <a:t>Overall journey: Idea → Market Gap → First Product → Feedback → Brand → Product Expansion → Manufacturing → Employment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69"/>
                </a:solidFill>
              </a:defRPr>
            </a:pPr>
            <a: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F5F69"/>
                </a:solidFill>
              </a:defRPr>
            </a:pPr>
            <a:r>
              <a:t>Sources: User-provided Mivi/Midhula presentations; Raw Talks With VK Podcast-46 references contained in the source material.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62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du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014492"/>
            <a:ext cx="6172200" cy="24515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977639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262269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0916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5F5F69"/>
                </a:solidFill>
                <a:latin typeface="Aptos"/>
              </a:defRPr>
            </a:pPr>
            <a:r>
              <a:t>The entrepreneurial journey of Midhula Devabhaktuni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49240"/>
            <a:ext cx="8503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262269"/>
                </a:solidFill>
                <a:latin typeface="Aptos"/>
              </a:defRPr>
            </a:pPr>
            <a:r>
              <a:t>Women Entrepreneurship &amp;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