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23"/>
    <p:sldId id="267" r:id="rId21"/>
    <p:sldId id="268" r:id="rId22"/>
    <p:sldId id="266" r:id="rId12"/>
  </p:sldIdLst>
  <p:sldSz cx="12192000" cy="6858000"/>
  <p:notesSz cx="6858000" cy="12192000"/>
  <p:embeddedFontLst>
    <p:embeddedFont>
      <p:font typeface="Arial Black" panose="020B0A04020102020204" pitchFamily="34" charset="0"/>
      <p:bold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355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e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95981" y="1895574"/>
            <a:ext cx="40051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4" y="16002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3200" b="1"/>
            </a:pPr>
            <a:r>
              <a:t>The Mivi Journey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3" y="219033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600"/>
            </a:pPr>
            <a:r>
              <a:t>From idea to product, brand and Made-in-India manufacturing</a:t>
            </a:r>
            <a:br/>
            <a:r>
              <a:t>A case study of Midhula Devabhaktuni and Mivi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23762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850" b="1" kern="0" spc="-56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  <a:p>
            <a:pPr>
              <a:lnSpc>
                <a:spcPct val="104000"/>
              </a:lnSpc>
            </a:pPr>
            <a:r>
              <a:rPr lang="en-IN" sz="1400" b="1" dirty="0"/>
              <a:t>PATHURI SRUTHI CHOWDARY</a:t>
            </a:r>
            <a:r>
              <a:rPr lang="en-IN" sz="1400" dirty="0"/>
              <a:t>          -  </a:t>
            </a:r>
            <a:r>
              <a:rPr lang="en-IN" sz="1400" b="1" dirty="0"/>
              <a:t>24BQ1A05Z4</a:t>
            </a:r>
            <a:r>
              <a:rPr lang="en-IN" sz="1400" dirty="0"/>
              <a:t> 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PUVVALA PREMA SWARUPA RANI</a:t>
            </a:r>
            <a:r>
              <a:rPr lang="en-IN" sz="1400" dirty="0"/>
              <a:t>  -  </a:t>
            </a:r>
            <a:r>
              <a:rPr lang="en-IN" sz="1400" b="1" dirty="0"/>
              <a:t>24BQ1A050X</a:t>
            </a:r>
            <a:r>
              <a:rPr lang="en-IN" sz="1400" dirty="0"/>
              <a:t> 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SATTENAPALLI VATHSALYA</a:t>
            </a:r>
            <a:r>
              <a:rPr lang="en-IN" sz="1400" dirty="0"/>
              <a:t>                -   </a:t>
            </a:r>
            <a:r>
              <a:rPr lang="en-IN" sz="1400" b="1" dirty="0"/>
              <a:t>25BQ5A0547</a:t>
            </a:r>
            <a:r>
              <a:rPr lang="en-IN" sz="1400" dirty="0"/>
              <a:t> 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PEDAKOTLA HARSHA VARDHAN</a:t>
            </a:r>
            <a:r>
              <a:rPr lang="en-IN" sz="1400" dirty="0"/>
              <a:t>      -   </a:t>
            </a:r>
            <a:r>
              <a:rPr lang="en-IN" sz="1400" b="1" dirty="0"/>
              <a:t>24BQ1A05Z7</a:t>
            </a:r>
            <a:r>
              <a:rPr lang="en-IN" sz="1400" dirty="0"/>
              <a:t> 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PULIVARTHI ANTHONI</a:t>
            </a:r>
            <a:r>
              <a:rPr lang="en-IN" sz="1400" dirty="0"/>
              <a:t>                        -   </a:t>
            </a:r>
            <a:r>
              <a:rPr lang="en-IN" sz="1400" b="1" dirty="0"/>
              <a:t>24BQ1A050T</a:t>
            </a:r>
            <a:r>
              <a:rPr lang="en-IN" sz="1400" dirty="0"/>
              <a:t> 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REDDI SANTOSH</a:t>
            </a:r>
            <a:r>
              <a:rPr lang="en-IN" sz="1400" dirty="0"/>
              <a:t> 	                   -   </a:t>
            </a:r>
            <a:r>
              <a:rPr lang="en-IN" sz="1400" b="1" dirty="0"/>
              <a:t>25BQ5A0545</a:t>
            </a:r>
            <a:r>
              <a:rPr lang="en-IN" sz="1400" dirty="0"/>
              <a:t> </a:t>
            </a:r>
            <a:endParaRPr lang="en-US" sz="1400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5ED95D8D-FA7A-25A7-3C9D-FC91A3F8A393}"/>
              </a:ext>
            </a:extLst>
          </p:cNvPr>
          <p:cNvSpPr/>
          <p:nvPr/>
        </p:nvSpPr>
        <p:spPr>
          <a:xfrm>
            <a:off x="661475" y="1063195"/>
            <a:ext cx="411856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p/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CC384D1-4AE8-D153-D09A-F11831B704D1}"/>
              </a:ext>
            </a:extLst>
          </p:cNvPr>
          <p:cNvSpPr/>
          <p:nvPr/>
        </p:nvSpPr>
        <p:spPr>
          <a:xfrm>
            <a:off x="774879" y="1119849"/>
            <a:ext cx="40051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  <a:defRPr sz="1400" b="1"/>
            </a:pPr>
            <a:r>
              <a:t>WOMEN ENTREPRENEURSHIP &amp; DEVELOPMENT</a:t>
            </a: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3201E-A0A4-0153-0642-CF81CDD9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41536"/>
            <a:ext cx="10868745" cy="43149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399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3000" b="1"/>
            </a:pPr>
            <a:r>
              <a:t>Who is Midhula Devabhaktuni?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601404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 sz="1600"/>
            </a:pPr>
            <a:r>
              <a:t>Co-Founder &amp; CMO of Mivi — a consumer electronics brand built around quality, value and Indian customer needs.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89BB8-2BF4-A564-2FD4-6FE53D35E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19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Education, Career &amp; Entrepreneurial Shift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06934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  <a:defRPr sz="1400"/>
            </a:pPr>
            <a:r>
              <a:t>Midhula built a foundation in technology, business and corporate execution before returning to India to build Mivi.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56" y="2214166"/>
            <a:ext cx="2263718" cy="38786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0721" y="2673945"/>
            <a:ext cx="2179781" cy="2959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43748" y="2885380"/>
            <a:ext cx="165532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Engineering Foundation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943748" y="3649960"/>
            <a:ext cx="165532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 sz="1500"/>
            </a:pPr>
            <a:r>
              <a:t>B.Tech in Computer Science, JNTU (2008)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3656" y="2673945"/>
            <a:ext cx="2179881" cy="2959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06683" y="2885380"/>
            <a:ext cx="165542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Higher Education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7306683" y="3940671"/>
            <a:ext cx="165542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 sz="1500"/>
            </a:pPr>
            <a:r>
              <a:t>MS in Computer Science and later an MBA in the US (Florida State University)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6689" y="2673945"/>
            <a:ext cx="2179781" cy="29591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69717" y="2885380"/>
            <a:ext cx="165532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Corporate Experience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669717" y="3649960"/>
            <a:ext cx="1655324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 sz="1500"/>
            </a:pPr>
            <a:r>
              <a:t>Worked as a software engineer in the US, including Xerox and Raymond James, before moving into entrepreneurship.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714377-4E2B-988A-60B9-76A8319D7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443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Finding the Opportunity in the Indian Market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937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400"/>
            </a:pPr>
            <a:r>
              <a:t>The founders identified a gap between low-cost imports and expensive global brands: Indian customers wanted quality, value and dependable service.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423841"/>
            <a:ext cx="5203794" cy="2387104"/>
          </a:xfrm>
          <a:prstGeom prst="roundRect">
            <a:avLst>
              <a:gd name="adj" fmla="val 332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7825" y="3430191"/>
            <a:ext cx="2595498" cy="2374404"/>
          </a:xfrm>
          <a:custGeom>
            <a:avLst/>
            <a:gdLst/>
            <a:ahLst/>
            <a:cxnLst/>
            <a:rect l="l" t="t" r="r" b="b"/>
            <a:pathLst>
              <a:path w="2595498" h="2374404">
                <a:moveTo>
                  <a:pt x="66156" y="0"/>
                </a:moveTo>
                <a:lnTo>
                  <a:pt x="2595498" y="0"/>
                </a:lnTo>
                <a:lnTo>
                  <a:pt x="2595498" y="2374404"/>
                </a:lnTo>
                <a:lnTo>
                  <a:pt x="66156" y="2374404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ADBF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6832" y="3619202"/>
            <a:ext cx="221748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Low-Cost Imports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4398764"/>
            <a:ext cx="221748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400"/>
            </a:pPr>
            <a:r>
              <a:t>Cheap white-label products could offer low prices but often lacked certification, warranty and consistent quality.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63322" y="3430191"/>
            <a:ext cx="2595597" cy="2374404"/>
          </a:xfrm>
          <a:custGeom>
            <a:avLst/>
            <a:gdLst/>
            <a:ahLst/>
            <a:cxnLst/>
            <a:rect l="l" t="t" r="r" b="b"/>
            <a:pathLst>
              <a:path w="2595597" h="2374404">
                <a:moveTo>
                  <a:pt x="0" y="0"/>
                </a:moveTo>
                <a:lnTo>
                  <a:pt x="2529440" y="0"/>
                </a:lnTo>
                <a:arcTo wR="66156" hR="66158" stAng="16200000" swAng="5400000"/>
                <a:lnTo>
                  <a:pt x="2595597" y="2308246"/>
                </a:lnTo>
                <a:arcTo wR="66156" hR="66158" stAng="0" swAng="5400000"/>
                <a:lnTo>
                  <a:pt x="0" y="2374404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63322" y="3430191"/>
            <a:ext cx="25399" cy="2374404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52329" y="3619202"/>
            <a:ext cx="22175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Global Brands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452329" y="4103489"/>
            <a:ext cx="221758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400"/>
            </a:pPr>
            <a:r>
              <a:t>Quality products were available, but prices were often high and products were not always designed around Indian usage.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340022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Mivi's Opportunity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332776" y="388451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400"/>
            </a:pPr>
            <a:r>
              <a:t>Build a homegrown brand combining product quality, value, customer service and products suited to Indian consumers.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C9ABE8-704D-CF64-EDBD-33DE0BA38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039" y="1208683"/>
            <a:ext cx="4099616" cy="18595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334246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From Corporate Career to a Small-Scale Start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61475" y="4172446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 sz="1400"/>
            </a:pPr>
            <a:r>
              <a:t>Midhula and Viswanadh left their professional careers and tested the business idea before attempting large-scale expansion.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4660404"/>
            <a:ext cx="3504715" cy="1636514"/>
          </a:xfrm>
          <a:prstGeom prst="roundRect">
            <a:avLst>
              <a:gd name="adj" fmla="val 46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50879" y="4849813"/>
            <a:ext cx="31259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The Starting Point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879" y="5242223"/>
            <a:ext cx="31259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 sz="1400"/>
            </a:pPr>
            <a:r>
              <a:t>Mivi was established in 2015; the first products began selling in 2016.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90" y="4660404"/>
            <a:ext cx="3504715" cy="1636514"/>
          </a:xfrm>
          <a:prstGeom prst="roundRect">
            <a:avLst>
              <a:gd name="adj" fmla="val 46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32894" y="4849813"/>
            <a:ext cx="31259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Bootstrapped Approach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32894" y="5242223"/>
            <a:ext cx="31259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 sz="1400"/>
            </a:pPr>
            <a:r>
              <a:t>The first stage was funded from personal savings, allowing the founders to focus on product and customer learning.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25505" y="4660404"/>
            <a:ext cx="3504715" cy="1636514"/>
          </a:xfrm>
          <a:prstGeom prst="roundRect">
            <a:avLst>
              <a:gd name="adj" fmla="val 46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14909" y="4849813"/>
            <a:ext cx="31259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800" b="1"/>
            </a:pPr>
            <a:r>
              <a:t>Small Before Scale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14909" y="5242223"/>
            <a:ext cx="312590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 sz="1400"/>
            </a:pPr>
            <a:r>
              <a:t>The business began from a home-office environment and grew through experimentation rather than an immediate large factory.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4E065D-25C3-9E8F-9293-216A2EA34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176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Validate, Learn and Iterate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169293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400"/>
            </a:pPr>
            <a:r>
              <a:t>Midhula's journey emphasizes understanding customer problems before investing heavily in products and scale.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305534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394188" y="252372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04387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70812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38675" y="169535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Observe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675" y="207188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Understand local usage and customer pain points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40206" y="305534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050405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6830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2684693" y="376416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Research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84693" y="414069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Prototype, test and improve before scaling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86323" y="252372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896522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62947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4530810" y="169535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Launch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30810" y="207188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Start with a focused product and collect real feedback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32341" y="305534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42540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08965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6376828" y="376416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Listen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76828" y="414069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Customer questions and reviews become product inputs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778458" y="252372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588657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55082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8222945" y="169535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Iterate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2945" y="207188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Use evidence to improve the portfolio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1475" y="464641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475" y="4958854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600" b="1"/>
            </a:pPr>
            <a:r>
              <a:t>Customer Support as R&amp;D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61475" y="5484912"/>
            <a:ext cx="1086874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 sz="1200"/>
            </a:pPr>
            <a:r>
              <a:t>In the early online-only phase, Midhula personally handled customer calls and emails, using direct feedback to improve products, warranties and trust.</a:t>
            </a:r>
            <a:endParaRPr lang="en-US" sz="13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24A750F-CF2F-F660-ECD8-3FECA29A9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5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Building Products for Indian Consumers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82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 sz="1400"/>
            </a:pPr>
            <a:r>
              <a:t>Mivi moved into audio and wearable products, where technology, design, comfort, sound quality and customer expectations meet.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70622"/>
            <a:ext cx="3504219" cy="220037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2375892"/>
            <a:ext cx="2175019" cy="35899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78931" y="250438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847608" y="3157339"/>
            <a:ext cx="174620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600" b="1"/>
            </a:pPr>
            <a:r>
              <a:t>Category Choice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847608" y="3936901"/>
            <a:ext cx="17462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200"/>
            </a:pPr>
            <a:r>
              <a:t>Headphones, earphones, Bluetooth devices and speakers create frequent customer interaction.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375892"/>
            <a:ext cx="2175118" cy="35899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43056" y="250438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211634" y="3157339"/>
            <a:ext cx="174630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600" b="1"/>
            </a:pPr>
            <a:r>
              <a:t>Local Understanding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211634" y="3936901"/>
            <a:ext cx="17463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200"/>
            </a:pPr>
            <a:r>
              <a:t>Product decisions were shaped by Indian preferences and usage conditions.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1353" y="2375892"/>
            <a:ext cx="2175118" cy="35899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07181" y="250438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9575759" y="3157339"/>
            <a:ext cx="174630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600" b="1"/>
            </a:pPr>
            <a:r>
              <a:t>Quality &amp; Validation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9575759" y="3936901"/>
            <a:ext cx="174630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200"/>
            </a:pPr>
            <a:r>
              <a:t>Mivi pursued product quality and certification as part of building customer trust.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18E553-8284-62C8-DEAA-379D9474F2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839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From Selling Products to Making in India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40545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 sz="1400"/>
            </a:pPr>
            <a:r>
              <a:t>Mivi's journey moved beyond importing products toward building domestic manufacturing capability, people and processes.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29" y="2137668"/>
            <a:ext cx="4009329" cy="40094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0332" y="2765227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700" b="1"/>
            </a:pPr>
            <a:r>
              <a:t>Scaling the Physical Footprint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300332" y="3175992"/>
            <a:ext cx="2548370" cy="1214041"/>
          </a:xfrm>
          <a:prstGeom prst="roundRect">
            <a:avLst>
              <a:gd name="adj" fmla="val 56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69099" y="3344763"/>
            <a:ext cx="22108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2020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69099" y="3738066"/>
            <a:ext cx="22108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 sz="1300"/>
            </a:pPr>
            <a:r>
              <a:t>2020 — 1 production line and 50+ employees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88200" y="3175992"/>
            <a:ext cx="2548370" cy="1214041"/>
          </a:xfrm>
          <a:prstGeom prst="roundRect">
            <a:avLst>
              <a:gd name="adj" fmla="val 56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156967" y="3344763"/>
            <a:ext cx="22108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2022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156967" y="3738066"/>
            <a:ext cx="22108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 sz="1300"/>
            </a:pPr>
            <a:r>
              <a:t>2022 — 9 production lines and 700+ employees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0332" y="4529534"/>
            <a:ext cx="5236238" cy="972443"/>
          </a:xfrm>
          <a:prstGeom prst="roundRect">
            <a:avLst>
              <a:gd name="adj" fmla="val 701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69099" y="4698305"/>
            <a:ext cx="489870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69099" y="5091609"/>
            <a:ext cx="489870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 sz="1300"/>
            </a:pPr>
            <a:r>
              <a:t>2024 — ₹200 crore second facility, 2,000 jobs and 100,000 units/day</a:t>
            </a:r>
            <a:endParaRPr lang="en-US" sz="12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068E6C-75CE-BB52-4E6B-0F8AB58C9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Finance, Growth &amp; Long-Term Thinking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500"/>
            </a:pPr>
            <a:r>
              <a:t>Growth has to be balanced with cash flow, pricing, margins, investment and the economics of hardware.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300"/>
            </a:pPr>
            <a:r>
              <a:t>The podcast discusses how financial decisions become increasingly important as a company scales. Pricing should reflect customer value and business economics rather than simply copying competitors.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876080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416282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093369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 sz="1400"/>
            </a:pPr>
            <a:r>
              <a:t>The long-term focus is sustainable growth — not spending money simply to look bigger.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A68E02-90A6-1E7F-DABE-A01906125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601"/>
            <a:ext cx="10868745" cy="326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700" b="1"/>
            </a:pPr>
            <a:r>
              <a:t>Partnership, Leadership &amp; Women Entrepreneurship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168499"/>
            <a:ext cx="114783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  <a:defRPr sz="1300"/>
            </a:pPr>
            <a:r>
              <a:t>Midhula and Viswanadh built Mivi together, combining complementary skills while sharing responsibility for the business.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307" y="1744166"/>
            <a:ext cx="5673583" cy="3222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540276"/>
            <a:ext cx="348903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600" b="1"/>
            </a:pPr>
            <a:r>
              <a:t>Entrepreneurial Partnership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61475" y="5908774"/>
            <a:ext cx="34890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  <a:defRPr sz="1300"/>
            </a:pPr>
            <a:r>
              <a:t>Running a company as partners requires communication, shared responsibility and clarity between personal and professional roles.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351229" y="5540276"/>
            <a:ext cx="348913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600" b="1"/>
            </a:pPr>
            <a:r>
              <a:t>Women in Technology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351229" y="5908774"/>
            <a:ext cx="34891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  <a:defRPr sz="1300"/>
            </a:pPr>
            <a:r>
              <a:t>Midhula's leadership demonstrates that women can build and lead technology and hardware businesses.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1082" y="5540276"/>
            <a:ext cx="348913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600" b="1"/>
            </a:pPr>
            <a:r>
              <a:t>Employment &amp; Opportunity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1082" y="5908774"/>
            <a:ext cx="34891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  <a:defRPr sz="1300"/>
            </a:pPr>
            <a:r>
              <a:t>Mivi's workforce also highlights opportunities for women in manufacturing, skills development and leadership.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2425" y="5327948"/>
            <a:ext cx="3527138" cy="381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332179" y="5327948"/>
            <a:ext cx="3527238" cy="381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022032" y="5327948"/>
            <a:ext cx="3527238" cy="381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p/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8F8839-B057-40F8-CE37-E8C05410A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275793-BCEB-5A34-0AA7-2197C6968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F03D94-9094-7BA9-33C7-11E80FED13F5}"/>
              </a:ext>
            </a:extLst>
          </p:cNvPr>
          <p:cNvSpPr txBox="1"/>
          <p:nvPr/>
        </p:nvSpPr>
        <p:spPr>
          <a:xfrm>
            <a:off x="3047281" y="3244943"/>
            <a:ext cx="60945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  <a:defRPr sz="3400" b="1"/>
            </a:pPr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982530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Key Lessons from Midhula's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The journey connects customer understanding, product quality, disciplined growth and long-term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1  IDENTIFY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762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Start with a real customer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2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762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Understand the market before investing heavily.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3 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92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Be clear about why customers should choose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4 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3192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Make quality and value part of the core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5  PERSIST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Entrepreneurship requires patience and continuous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6  CREATE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4622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A business can create jobs, skills and opportunities for women.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/>
            </a:pPr>
            <a:r>
              <a:t>Women at Mivi: Skills, Work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Entrepreneurship can create opportunities beyond the founders — through employment, skills and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01752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WORKFORCE</a:t>
            </a:r>
          </a:p>
          <a:p>
            <a:pPr>
              <a:defRPr sz="1200"/>
            </a:pPr>
            <a:r>
              <a:t>Women can participate in precision-oriented manufacturing roles supported by training and structured processes.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011680"/>
            <a:ext cx="301752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TRAINING</a:t>
            </a:r>
          </a:p>
          <a:p>
            <a:pPr>
              <a:defRPr sz="1200"/>
            </a:pPr>
            <a:r>
              <a:t>In-house learning helps employees develop the skills required for electronics manufacturing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011680"/>
            <a:ext cx="301752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LEADERSHIP &amp; GROWTH</a:t>
            </a:r>
          </a:p>
          <a:p>
            <a:pPr>
              <a:defRPr sz="1200"/>
            </a:pPr>
            <a:r>
              <a:t>Creating pathways for women in technology and manufacturing can extend the social and economic impact of a growing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Key idea: business growth and inclusion can reinforce each other when people are trained, supported and given room to grow.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61475" y="549176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2800" b="1"/>
            </a:pPr>
            <a:r>
              <a:t>Marketing, Positioning &amp; Customer Trust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169293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400"/>
            </a:pPr>
            <a:r>
              <a:t>Mivi's growth involved more than promotion: the brand had to communicate a clear reason for customers to choose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305534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394188" y="252372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04387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70812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38675" y="169535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Marketing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675" y="207188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Use channels such as marketplaces, social media and influencers while connecting spending to measurable outcomes.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40206" y="305534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050405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6830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2684693" y="376416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Positioning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84693" y="414069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Answer the customer question: why choose this brand? Mivi focused on quality, value and Indian consumers.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86323" y="252372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896522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62947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4530810" y="169535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Customer Trust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30810" y="207188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For electronics, reliability, reviews, service and after-sales support strongly influence perceived value.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32341" y="305534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42540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08965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6376828" y="376416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Brand Building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76828" y="414069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A strong brand grows from consistent product experience and customer satisfaction—not visibility alone.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778458" y="252372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588657" y="285601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55082" y="28892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8222945" y="1695351"/>
            <a:ext cx="31300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 sz="1500" b="1"/>
            </a:pPr>
            <a:r>
              <a:t>Feedback Loop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2945" y="2071886"/>
            <a:ext cx="31300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 sz="1200"/>
            </a:pPr>
            <a:r>
              <a:t>Satisfied customers can become a source of repeat business and brand growth.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1475" y="464641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475" y="4958854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 sz="1600" b="1"/>
            </a:pPr>
            <a:r>
              <a:t>A Practical Lesson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61475" y="5484912"/>
            <a:ext cx="1086874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 sz="1200"/>
            </a:pPr>
            <a:r>
              <a:t>Marketing brings attention; positioning gives customers a reason to choose; product experience and service help build trust.</a:t>
            </a:r>
            <a:endParaRPr lang="en-US" sz="13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24A750F-CF2F-F660-ECD8-3FECA29A9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784" y="6560775"/>
            <a:ext cx="1964216" cy="295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684</Words>
  <Application>Microsoft Office PowerPoint</Application>
  <PresentationFormat>Widescreen</PresentationFormat>
  <Paragraphs>99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 Bold</vt:lpstr>
      <vt:lpstr>Arial</vt:lpstr>
      <vt:lpstr>Arial Black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Santosh</dc:creator>
  <cp:lastModifiedBy>reddi santosh</cp:lastModifiedBy>
  <cp:revision>2</cp:revision>
  <dcterms:created xsi:type="dcterms:W3CDTF">2026-09-23T15:58:11Z</dcterms:created>
  <dcterms:modified xsi:type="dcterms:W3CDTF">2026-09-23T16:06:22Z</dcterms:modified>
</cp:coreProperties>
</file>